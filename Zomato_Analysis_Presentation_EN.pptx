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5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6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7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8.xml" ContentType="application/vnd.openxmlformats-officedocument.presentationml.notesSlide+xml"/>
  <Override PartName="/ppt/charts/chart1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097" autoAdjust="0"/>
  </p:normalViewPr>
  <p:slideViewPr>
    <p:cSldViewPr snapToGrid="0" snapToObjects="1">
      <p:cViewPr varScale="1">
        <p:scale>
          <a:sx n="77" d="100"/>
          <a:sy n="77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8B001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Meal</c:v>
                </c:pt>
                <c:pt idx="1">
                  <c:v>Drinks</c:v>
                </c:pt>
                <c:pt idx="2">
                  <c:v>Buffet</c:v>
                </c:pt>
                <c:pt idx="3">
                  <c:v>Snack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10470</c:v>
                </c:pt>
                <c:pt idx="1">
                  <c:v>10350</c:v>
                </c:pt>
                <c:pt idx="2">
                  <c:v>10270</c:v>
                </c:pt>
                <c:pt idx="3">
                  <c:v>10460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69-433F-8789-51375B34104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Vehicles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00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68-4A70-9622-0B83B194E9B3}"/>
              </c:ext>
            </c:extLst>
          </c:dPt>
          <c:dPt>
            <c:idx val="1"/>
            <c:bubble3D val="0"/>
            <c:spPr>
              <a:solidFill>
                <a:srgbClr val="1A1A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68-4A70-9622-0B83B194E9B3}"/>
              </c:ext>
            </c:extLst>
          </c:dPt>
          <c:dPt>
            <c:idx val="2"/>
            <c:bubble3D val="0"/>
            <c:spPr>
              <a:solidFill>
                <a:srgbClr val="D9C7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68-4A70-9622-0B83B194E9B3}"/>
              </c:ext>
            </c:extLst>
          </c:dPt>
          <c:cat>
            <c:strRef>
              <c:f>Sheet1!$A$2:$A$4</c:f>
              <c:strCache>
                <c:ptCount val="3"/>
                <c:pt idx="0">
                  <c:v>Motorcycle 58.7%</c:v>
                </c:pt>
                <c:pt idx="1">
                  <c:v>Scooter 33.2%</c:v>
                </c:pt>
                <c:pt idx="2">
                  <c:v>Electric scooter 8.1%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58.7</c:v>
                </c:pt>
                <c:pt idx="1">
                  <c:v>33.200000000000003</c:v>
                </c:pt>
                <c:pt idx="2">
                  <c:v>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68-4A70-9622-0B83B194E9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8B001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Fog</c:v>
                </c:pt>
                <c:pt idx="1">
                  <c:v>Stormy</c:v>
                </c:pt>
                <c:pt idx="2">
                  <c:v>Cloudy</c:v>
                </c:pt>
                <c:pt idx="3">
                  <c:v>Windy</c:v>
                </c:pt>
                <c:pt idx="4">
                  <c:v>Sunny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7130</c:v>
                </c:pt>
                <c:pt idx="1">
                  <c:v>7030</c:v>
                </c:pt>
                <c:pt idx="2">
                  <c:v>6960</c:v>
                </c:pt>
                <c:pt idx="3">
                  <c:v>6880</c:v>
                </c:pt>
                <c:pt idx="4">
                  <c:v>6680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D5-4274-92D3-FCE88CF61A5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 cap="flat">
              <a:solidFill>
                <a:srgbClr val="8B001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0018"/>
              </a:solidFill>
              <a:ln w="9525" cap="flat">
                <a:solidFill>
                  <a:srgbClr val="8B001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F3C7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February</c:v>
                </c:pt>
                <c:pt idx="1">
                  <c:v>March</c:v>
                </c:pt>
                <c:pt idx="2">
                  <c:v>April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14000</c:v>
                </c:pt>
                <c:pt idx="1">
                  <c:v>28000</c:v>
                </c:pt>
                <c:pt idx="2">
                  <c:v>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5A-403F-BC37-1426E135E2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8B001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COIMBRES010D</c:v>
                </c:pt>
                <c:pt idx="1">
                  <c:v>INDORES08DEL02</c:v>
                </c:pt>
                <c:pt idx="2">
                  <c:v>RANCHIRES16D</c:v>
                </c:pt>
                <c:pt idx="3">
                  <c:v>VADRES12DEL02</c:v>
                </c:pt>
                <c:pt idx="4">
                  <c:v>COIMBRES02DE</c:v>
                </c:pt>
                <c:pt idx="5">
                  <c:v>HYDRES04DEL02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</c:v>
                </c:pt>
                <c:pt idx="1">
                  <c:v>62</c:v>
                </c:pt>
                <c:pt idx="2">
                  <c:v>62</c:v>
                </c:pt>
                <c:pt idx="3">
                  <c:v>62</c:v>
                </c:pt>
                <c:pt idx="4">
                  <c:v>61</c:v>
                </c:pt>
                <c:pt idx="5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9B-4AC6-BC04-A5EE514F09D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00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CD9-40F8-A07A-7AA55B6F66DD}"/>
              </c:ext>
            </c:extLst>
          </c:dPt>
          <c:dPt>
            <c:idx val="1"/>
            <c:bubble3D val="0"/>
            <c:spPr>
              <a:solidFill>
                <a:srgbClr val="1A1A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D9-40F8-A07A-7AA55B6F66DD}"/>
              </c:ext>
            </c:extLst>
          </c:dPt>
          <c:dPt>
            <c:idx val="2"/>
            <c:bubble3D val="0"/>
            <c:spPr>
              <a:solidFill>
                <a:srgbClr val="D9C7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D9-40F8-A07A-7AA55B6F66DD}"/>
              </c:ext>
            </c:extLst>
          </c:dPt>
          <c:cat>
            <c:strRef>
              <c:f>Sheet1!$A$2:$A$4</c:f>
              <c:strCache>
                <c:ptCount val="3"/>
                <c:pt idx="0">
                  <c:v>Scooter 4.7</c:v>
                </c:pt>
                <c:pt idx="1">
                  <c:v>Motorcycle 4.8</c:v>
                </c:pt>
                <c:pt idx="2">
                  <c:v>Electric scooter 4.8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4.7</c:v>
                </c:pt>
                <c:pt idx="1">
                  <c:v>4.8</c:v>
                </c:pt>
                <c:pt idx="2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CD9-40F8-A07A-7AA55B6F66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8B001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4.78</c:v>
                </c:pt>
                <c:pt idx="1">
                  <c:v>4.7300000000000004</c:v>
                </c:pt>
                <c:pt idx="2">
                  <c:v>4.46</c:v>
                </c:pt>
                <c:pt idx="3">
                  <c:v>4.57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30-4349-98CA-250EEA83333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Vehicles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00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51C-4830-A648-278CE1946AED}"/>
              </c:ext>
            </c:extLst>
          </c:dPt>
          <c:dPt>
            <c:idx val="1"/>
            <c:bubble3D val="0"/>
            <c:spPr>
              <a:solidFill>
                <a:srgbClr val="1A1A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1C-4830-A648-278CE1946AED}"/>
              </c:ext>
            </c:extLst>
          </c:dPt>
          <c:dPt>
            <c:idx val="2"/>
            <c:bubble3D val="0"/>
            <c:spPr>
              <a:solidFill>
                <a:srgbClr val="D9C7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1C-4830-A648-278CE1946AED}"/>
              </c:ext>
            </c:extLst>
          </c:dPt>
          <c:cat>
            <c:strRef>
              <c:f>Sheet1!$A$2:$A$4</c:f>
              <c:strCache>
                <c:ptCount val="3"/>
                <c:pt idx="0">
                  <c:v>Motorcycle 55.6%</c:v>
                </c:pt>
                <c:pt idx="1">
                  <c:v>Scooter 39.7%</c:v>
                </c:pt>
                <c:pt idx="2">
                  <c:v>Electric scooter 4.8%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55.6</c:v>
                </c:pt>
                <c:pt idx="1">
                  <c:v>39.700000000000003</c:v>
                </c:pt>
                <c:pt idx="2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51C-4830-A648-278CE1946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00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D0-4D06-82E4-24FCD70D396E}"/>
              </c:ext>
            </c:extLst>
          </c:dPt>
          <c:dPt>
            <c:idx val="1"/>
            <c:bubble3D val="0"/>
            <c:spPr>
              <a:solidFill>
                <a:srgbClr val="2F3C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D0-4D06-82E4-24FCD70D396E}"/>
              </c:ext>
            </c:extLst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D0-4D06-82E4-24FCD70D396E}"/>
              </c:ext>
            </c:extLst>
          </c:dPt>
          <c:dPt>
            <c:idx val="3"/>
            <c:bubble3D val="0"/>
            <c:spPr>
              <a:solidFill>
                <a:srgbClr val="1A1A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D0-4D06-82E4-24FCD70D396E}"/>
              </c:ext>
            </c:extLst>
          </c:dPt>
          <c:cat>
            <c:strRef>
              <c:f>Sheet1!$A$2:$A$5</c:f>
              <c:strCache>
                <c:ptCount val="4"/>
                <c:pt idx="0">
                  <c:v>Meal 30.2%</c:v>
                </c:pt>
                <c:pt idx="1">
                  <c:v>Buffet 27%</c:v>
                </c:pt>
                <c:pt idx="2">
                  <c:v>Snack 25.4%</c:v>
                </c:pt>
                <c:pt idx="3">
                  <c:v>Drinks 17.5%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30.2</c:v>
                </c:pt>
                <c:pt idx="1">
                  <c:v>27</c:v>
                </c:pt>
                <c:pt idx="2">
                  <c:v>25.4</c:v>
                </c:pt>
                <c:pt idx="3">
                  <c:v>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D0-4D06-82E4-24FCD70D39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25400" cap="flat">
              <a:solidFill>
                <a:srgbClr val="8B001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12-4704-8B3D-363F5BAF33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Transit Time</c:v>
                </c:pt>
              </c:strCache>
            </c:strRef>
          </c:tx>
          <c:spPr>
            <a:solidFill>
              <a:srgbClr val="8B001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Semi-Urban</c:v>
                </c:pt>
                <c:pt idx="1">
                  <c:v>Metropolitan</c:v>
                </c:pt>
                <c:pt idx="2">
                  <c:v>Urban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13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C6-49A9-9A52-5490B0DA3D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Prepare Time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Semi-Urban</c:v>
                </c:pt>
                <c:pt idx="1">
                  <c:v>Metropolitan</c:v>
                </c:pt>
                <c:pt idx="2">
                  <c:v>Urban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C6-49A9-9A52-5490B0DA3D0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Bottleneck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00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DA9-4F12-A116-9FD1B741D559}"/>
              </c:ext>
            </c:extLst>
          </c:dPt>
          <c:dPt>
            <c:idx val="1"/>
            <c:bubble3D val="0"/>
            <c:spPr>
              <a:solidFill>
                <a:srgbClr val="1A1A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A9-4F12-A116-9FD1B741D559}"/>
              </c:ext>
            </c:extLst>
          </c:dPt>
          <c:dPt>
            <c:idx val="2"/>
            <c:bubble3D val="0"/>
            <c:spPr>
              <a:solidFill>
                <a:srgbClr val="2F3C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A9-4F12-A116-9FD1B741D559}"/>
              </c:ext>
            </c:extLst>
          </c:dPt>
          <c:dPt>
            <c:idx val="3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A9-4F12-A116-9FD1B741D559}"/>
              </c:ext>
            </c:extLst>
          </c:dPt>
          <c:cat>
            <c:strRef>
              <c:f>Sheet1!$A$2:$A$5</c:f>
              <c:strCache>
                <c:ptCount val="4"/>
                <c:pt idx="0">
                  <c:v>Road delay 37%</c:v>
                </c:pt>
                <c:pt idx="1">
                  <c:v>Normal 28.8%</c:v>
                </c:pt>
                <c:pt idx="2">
                  <c:v>Kitchen delay 25%</c:v>
                </c:pt>
                <c:pt idx="3">
                  <c:v>Both 9.1%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</c:v>
                </c:pt>
                <c:pt idx="1">
                  <c:v>28.8</c:v>
                </c:pt>
                <c:pt idx="2">
                  <c:v>25</c:v>
                </c:pt>
                <c:pt idx="3">
                  <c:v>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DA9-4F12-A116-9FD1B741D5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solidFill>
              <a:srgbClr val="8B001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Fog</c:v>
                </c:pt>
                <c:pt idx="1">
                  <c:v>Cloudy</c:v>
                </c:pt>
                <c:pt idx="2">
                  <c:v>Windy</c:v>
                </c:pt>
                <c:pt idx="3">
                  <c:v>Stormy</c:v>
                </c:pt>
                <c:pt idx="4">
                  <c:v>Sandstorm</c:v>
                </c:pt>
                <c:pt idx="5">
                  <c:v>Sunny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21</c:v>
                </c:pt>
                <c:pt idx="2">
                  <c:v>20.5</c:v>
                </c:pt>
                <c:pt idx="3">
                  <c:v>22</c:v>
                </c:pt>
                <c:pt idx="4">
                  <c:v>21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C3-4AEA-AFF6-1BB2202C0C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00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3CA-4DC5-AAAC-F3ED4B351CF4}"/>
              </c:ext>
            </c:extLst>
          </c:dPt>
          <c:dPt>
            <c:idx val="1"/>
            <c:bubble3D val="0"/>
            <c:spPr>
              <a:solidFill>
                <a:srgbClr val="1A1A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CA-4DC5-AAAC-F3ED4B351CF4}"/>
              </c:ext>
            </c:extLst>
          </c:dPt>
          <c:cat>
            <c:strRef>
              <c:f>Sheet1!$A$2:$A$3</c:f>
              <c:strCache>
                <c:ptCount val="2"/>
                <c:pt idx="0">
                  <c:v>Rating 5 (74%)</c:v>
                </c:pt>
                <c:pt idx="1">
                  <c:v>Rating 4 (26%)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</c:v>
                </c:pt>
                <c:pt idx="1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3CA-4DC5-AAAC-F3ED4B351C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Delayed</c:v>
                </c:pt>
              </c:strCache>
            </c:strRef>
          </c:tx>
          <c:spPr>
            <a:solidFill>
              <a:srgbClr val="8B001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Fog</c:v>
                </c:pt>
                <c:pt idx="1">
                  <c:v>Stormy</c:v>
                </c:pt>
                <c:pt idx="2">
                  <c:v>Cloudy</c:v>
                </c:pt>
                <c:pt idx="3">
                  <c:v>Sandstorm</c:v>
                </c:pt>
                <c:pt idx="4">
                  <c:v>Windy</c:v>
                </c:pt>
                <c:pt idx="5">
                  <c:v>Sunny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48</c:v>
                </c:pt>
                <c:pt idx="2">
                  <c:v>47</c:v>
                </c:pt>
                <c:pt idx="3">
                  <c:v>46</c:v>
                </c:pt>
                <c:pt idx="4">
                  <c:v>45</c:v>
                </c:pt>
                <c:pt idx="5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15-4093-BE87-AD9A3A97563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8B001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Metropolitan</c:v>
                </c:pt>
                <c:pt idx="1">
                  <c:v>Urban</c:v>
                </c:pt>
                <c:pt idx="2">
                  <c:v>Semi-Urban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32000</c:v>
                </c:pt>
                <c:pt idx="1">
                  <c:v>9000</c:v>
                </c:pt>
                <c:pt idx="2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50-4954-AE50-3CAEE578F8D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6932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001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D9A441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40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Delivery Analysis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9D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insights into delivery performance, drivers, operational efficiency, and the impact of weather and geography across 42K orders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0607040" cy="0"/>
          </a:xfrm>
          <a:prstGeom prst="line">
            <a:avLst/>
          </a:prstGeom>
          <a:noFill/>
          <a:ln w="12700">
            <a:solidFill>
              <a:srgbClr val="D9A441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9D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1,320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9D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9D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Rating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41080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41080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9D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A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Sections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709160"/>
          </a:xfrm>
          <a:prstGeom prst="roundRect">
            <a:avLst>
              <a:gd name="adj" fmla="val 1165"/>
            </a:avLst>
          </a:prstGeom>
          <a:solidFill>
            <a:srgbClr val="FCF6F5"/>
          </a:solidFill>
          <a:ln w="12700">
            <a:solidFill>
              <a:srgbClr val="E3CC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8B001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0" y="1691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snapshot &amp; key metrics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2404872"/>
            <a:ext cx="502920" cy="502920"/>
          </a:xfrm>
          <a:prstGeom prst="ellipse">
            <a:avLst/>
          </a:prstGeom>
          <a:solidFill>
            <a:srgbClr val="8B001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40487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Performance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69680" y="24048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outcomes &amp; customer ratings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3118104"/>
            <a:ext cx="502920" cy="502920"/>
          </a:xfrm>
          <a:prstGeom prst="ellipse">
            <a:avLst/>
          </a:prstGeom>
          <a:solidFill>
            <a:srgbClr val="8B001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11810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Performance (Drill Through)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69680" y="311810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driver-level breakdown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831336"/>
            <a:ext cx="502920" cy="502920"/>
          </a:xfrm>
          <a:prstGeom prst="ellipse">
            <a:avLst/>
          </a:prstGeom>
          <a:solidFill>
            <a:srgbClr val="8B001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383133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Efficiency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0" y="38313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Prep, transit time &amp; bottlenecks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4544568"/>
            <a:ext cx="502920" cy="502920"/>
          </a:xfrm>
          <a:prstGeom prst="ellipse">
            <a:avLst/>
          </a:prstGeom>
          <a:solidFill>
            <a:srgbClr val="8B001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4544568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Impact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69680" y="45445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&amp; traffic effects on delivery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8680" y="5257800"/>
            <a:ext cx="502920" cy="502920"/>
          </a:xfrm>
          <a:prstGeom prst="ellipse">
            <a:avLst/>
          </a:prstGeom>
          <a:solidFill>
            <a:srgbClr val="8B0018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52578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Geographical Insights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69680" y="52578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distribution &amp; distance covered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Food Delivery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57984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27048"/>
            <a:ext cx="21579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215798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61488" y="1417320"/>
            <a:ext cx="2157984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61488" y="1527048"/>
            <a:ext cx="21579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1,320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61488" y="1993392"/>
            <a:ext cx="215798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Drivers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74336" y="1417320"/>
            <a:ext cx="2157984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74336" y="1527048"/>
            <a:ext cx="21579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74336" y="1993392"/>
            <a:ext cx="215798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87184" y="1417320"/>
            <a:ext cx="2157984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87184" y="1527048"/>
            <a:ext cx="21579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87184" y="1993392"/>
            <a:ext cx="215798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Rating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00032" y="1417320"/>
            <a:ext cx="2157984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00032" y="1527048"/>
            <a:ext cx="21579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min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400032" y="1993392"/>
            <a:ext cx="215798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Delivery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Types</a:t>
            </a:r>
            <a:endParaRPr lang="en-US" sz="14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48640" y="2926080"/>
          <a:ext cx="35661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29768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Vehicles</a:t>
            </a:r>
            <a:endParaRPr lang="en-US" sz="14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4297680" y="2926080"/>
          <a:ext cx="33832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8001000" y="26060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Frequent Weather Conditions</a:t>
            </a:r>
            <a:endParaRPr lang="en-US" sz="1400" dirty="0"/>
          </a:p>
        </p:txBody>
      </p:sp>
      <p:graphicFrame>
        <p:nvGraphicFramePr>
          <p:cNvPr id="24" name="Chart 2"/>
          <p:cNvGraphicFramePr/>
          <p:nvPr/>
        </p:nvGraphicFramePr>
        <p:xfrm>
          <a:off x="8001000" y="2926080"/>
          <a:ext cx="36118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 20"/>
          <p:cNvSpPr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Orders by Month — Peak in March</a:t>
            </a:r>
            <a:endParaRPr lang="en-US" sz="1400" dirty="0"/>
          </a:p>
        </p:txBody>
      </p:sp>
      <p:graphicFrame>
        <p:nvGraphicFramePr>
          <p:cNvPr id="26" name="Chart 3"/>
          <p:cNvGraphicFramePr/>
          <p:nvPr/>
        </p:nvGraphicFramePr>
        <p:xfrm>
          <a:off x="548640" y="5394960"/>
          <a:ext cx="1106424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7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Food Delivery Analysis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27048"/>
            <a:ext cx="25603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25603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per Driver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527048"/>
            <a:ext cx="25603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30.46%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0" y="1993392"/>
            <a:ext cx="25603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1527048"/>
            <a:ext cx="25603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852160" y="1993392"/>
            <a:ext cx="25603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Rating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0" y="141732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1508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drops as a driver's simultaneous deliveries increase (from 4.78 to 4.46)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606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Drivers by Total Orders</a:t>
            </a:r>
            <a:endParaRPr lang="en-US" sz="14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2926080"/>
          <a:ext cx="53949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263640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Avg. Rating by Vehicle Type</a:t>
            </a:r>
            <a:endParaRPr lang="en-US" sz="140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6263640" y="2926080"/>
          <a:ext cx="25603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/>
          <p:nvPr/>
        </p:nvSpPr>
        <p:spPr>
          <a:xfrm>
            <a:off x="9006840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by Multiple Deliveries</a:t>
            </a:r>
            <a:endParaRPr lang="en-US" sz="1000" dirty="0"/>
          </a:p>
        </p:txBody>
      </p:sp>
      <p:graphicFrame>
        <p:nvGraphicFramePr>
          <p:cNvPr id="20" name="Chart 2"/>
          <p:cNvGraphicFramePr/>
          <p:nvPr/>
        </p:nvGraphicFramePr>
        <p:xfrm>
          <a:off x="9006840" y="2971800"/>
          <a:ext cx="26060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1" name="Shape 16"/>
          <p:cNvSpPr/>
          <p:nvPr/>
        </p:nvSpPr>
        <p:spPr>
          <a:xfrm>
            <a:off x="6263640" y="48006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46520" y="48920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vehicle ratings are tightly clustered (4.7–4.8), meaning vehicle type is less influential on customer satisfaction than the number of simultaneous deliveries a driver handles.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Food Delivery Analysis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Through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27048"/>
            <a:ext cx="3566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35661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per Driver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4173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1527048"/>
            <a:ext cx="3566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51960" y="1993392"/>
            <a:ext cx="35661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Rating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4173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527048"/>
            <a:ext cx="3566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25.89 min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955280" y="1993392"/>
            <a:ext cx="35661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Time Taken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by Vehicle Type</a:t>
            </a:r>
            <a:endParaRPr lang="en-US" sz="13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548640" y="2926080"/>
          <a:ext cx="35661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429768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by Type</a:t>
            </a:r>
            <a:endParaRPr lang="en-US" sz="1350" dirty="0"/>
          </a:p>
        </p:txBody>
      </p:sp>
      <p:graphicFrame>
        <p:nvGraphicFramePr>
          <p:cNvPr id="16" name="Chart 1"/>
          <p:cNvGraphicFramePr/>
          <p:nvPr/>
        </p:nvGraphicFramePr>
        <p:xfrm>
          <a:off x="4297680" y="2926080"/>
          <a:ext cx="35661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hape 13"/>
          <p:cNvSpPr/>
          <p:nvPr/>
        </p:nvSpPr>
        <p:spPr>
          <a:xfrm>
            <a:off x="8001000" y="260604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83880" y="27249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183880" y="306324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Motorcycles make up over half the delivery fleet
• Meal orders are relatively the highest order type
• Order types are fairly balanced overall
• Drivers complete an average of 63 orders each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Orders by Time Taken (min)</a:t>
            </a:r>
            <a:endParaRPr lang="en-US" sz="1350" dirty="0"/>
          </a:p>
        </p:txBody>
      </p:sp>
      <p:graphicFrame>
        <p:nvGraphicFramePr>
          <p:cNvPr id="21" name="Chart 2"/>
          <p:cNvGraphicFramePr/>
          <p:nvPr/>
        </p:nvGraphicFramePr>
        <p:xfrm>
          <a:off x="548640" y="5394960"/>
          <a:ext cx="1106424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Food Delivery Analysis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Efficiency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724912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27048"/>
            <a:ext cx="272491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9.99 min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272491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Prepare Time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28416" y="1417320"/>
            <a:ext cx="2724912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28416" y="1527048"/>
            <a:ext cx="272491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16.49 min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28416" y="1993392"/>
            <a:ext cx="272491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Transit Time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08192" y="1417320"/>
            <a:ext cx="2724912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08192" y="1527048"/>
            <a:ext cx="272491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26.48 min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08192" y="1993392"/>
            <a:ext cx="272491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Total 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87968" y="1417320"/>
            <a:ext cx="2724912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87968" y="1527048"/>
            <a:ext cx="272491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887968" y="1993392"/>
            <a:ext cx="272491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Speed (km/h)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606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Avg. Transit &amp; Prepare Time by City Type</a:t>
            </a:r>
            <a:endParaRPr lang="en-US" sz="13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2926080"/>
          <a:ext cx="53949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6263640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by Bottleneck Flag</a:t>
            </a:r>
            <a:endParaRPr lang="en-US" sz="1350" dirty="0"/>
          </a:p>
        </p:txBody>
      </p:sp>
      <p:graphicFrame>
        <p:nvGraphicFramePr>
          <p:cNvPr id="19" name="Chart 1"/>
          <p:cNvGraphicFramePr/>
          <p:nvPr/>
        </p:nvGraphicFramePr>
        <p:xfrm>
          <a:off x="6263640" y="2926080"/>
          <a:ext cx="35661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16"/>
          <p:cNvSpPr/>
          <p:nvPr/>
        </p:nvSpPr>
        <p:spPr>
          <a:xfrm>
            <a:off x="6263640" y="525780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46520" y="532180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Semi-urban areas take roughly 3x longer in transit than metropolitan cities — an opportunity to improve logistics infrastructure there.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Food Delivery Analysis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57984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27048"/>
            <a:ext cx="21579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215798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61488" y="1417320"/>
            <a:ext cx="2157984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61488" y="1527048"/>
            <a:ext cx="21579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26.48 min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61488" y="1993392"/>
            <a:ext cx="215798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Delivery Time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74336" y="1417320"/>
            <a:ext cx="2157984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74336" y="1527048"/>
            <a:ext cx="21579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3,769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74336" y="1993392"/>
            <a:ext cx="215798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Deliveries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87184" y="1417320"/>
            <a:ext cx="2157984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87184" y="1527048"/>
            <a:ext cx="21579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87184" y="1993392"/>
            <a:ext cx="215798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Rating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00032" y="1417320"/>
            <a:ext cx="2157984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00032" y="1527048"/>
            <a:ext cx="21579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30.46%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00032" y="1993392"/>
            <a:ext cx="215798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of Weather on Delivery Time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48640" y="2926080"/>
          <a:ext cx="35661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29768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Rating Distribution</a:t>
            </a:r>
            <a:endParaRPr lang="en-US" sz="13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4297680" y="2926080"/>
          <a:ext cx="33832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8001000" y="26060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Rate by Weather Condition</a:t>
            </a:r>
            <a:endParaRPr lang="en-US" sz="1300" dirty="0"/>
          </a:p>
        </p:txBody>
      </p:sp>
      <p:graphicFrame>
        <p:nvGraphicFramePr>
          <p:cNvPr id="24" name="Chart 2"/>
          <p:cNvGraphicFramePr/>
          <p:nvPr/>
        </p:nvGraphicFramePr>
        <p:xfrm>
          <a:off x="8001000" y="2926080"/>
          <a:ext cx="36118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Shape 20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77240" y="51663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delivery time is only mildly affected by weather, customer ratings remain high overall (74% rate 5 stars) — suggesting weather is not a decisive factor in final customer satisfaction, though the overall delay rate (30.46%) still warrants operational attention regardless of weather.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Food Delivery Analysis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Geographical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27048"/>
            <a:ext cx="26974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26974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527048"/>
            <a:ext cx="26974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26.48 min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1993392"/>
            <a:ext cx="26974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Time Taken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527048"/>
            <a:ext cx="26974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26.83 km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1993392"/>
            <a:ext cx="26974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Distance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  <a:effectLst>
            <a:outerShdw blurRad="76200" dist="25400" dir="5400000" algn="bl" rotWithShape="0">
              <a:srgbClr val="8B001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527048"/>
            <a:ext cx="26060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1.11M km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15400" y="1993392"/>
            <a:ext cx="260604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Distance Covered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606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by Each City</a:t>
            </a:r>
            <a:endParaRPr lang="en-US" sz="14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2926080"/>
          <a:ext cx="53949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6263640" y="260604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272491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46520" y="306324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Metropolitan cities account for roughly 76% of total orders
• Semi-urban areas are nearly absent from current order volume
• The distribution map shows concentration in north &amp; central India
• The relationship between time taken and avg. number of drivers trends upward with longer delivery times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2F3C7E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1663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opportunity: expanding into semi-urban and smaller urban areas could reduce over-reliance on major cities and balance demand geographically.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Food Delivery Analysis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371600"/>
          </a:xfrm>
          <a:prstGeom prst="roundRect">
            <a:avLst>
              <a:gd name="adj" fmla="val 3137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8B001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62763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Delay Rate (30.46%)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Warrants a review of road- and kitchen-related delay causes, especially in foggy and stormy conditions.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441903"/>
            <a:ext cx="5440680" cy="1371600"/>
          </a:xfrm>
          <a:prstGeom prst="roundRect">
            <a:avLst>
              <a:gd name="adj" fmla="val 3137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4592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8B0018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12280" y="162763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Geographic Concentration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 of orders come from metropolitan cities alone — an opportunity to expand into smaller urban and semi-urban areas.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5780" y="2980944"/>
            <a:ext cx="5440680" cy="1463040"/>
          </a:xfrm>
          <a:prstGeom prst="roundRect">
            <a:avLst>
              <a:gd name="adj" fmla="val 3137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" y="3163824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8B001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" y="3145536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0632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Gap in Transit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3758184"/>
            <a:ext cx="498348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time in semi-urban areas is nearly 3x that of metro cities — needs better logistics infrastructure.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971800"/>
            <a:ext cx="5440680" cy="1472184"/>
          </a:xfrm>
          <a:prstGeom prst="roundRect">
            <a:avLst>
              <a:gd name="adj" fmla="val 3137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154680"/>
            <a:ext cx="320040" cy="310000"/>
          </a:xfrm>
          <a:prstGeom prst="roundRect">
            <a:avLst>
              <a:gd name="adj" fmla="val 48571"/>
            </a:avLst>
          </a:prstGeom>
          <a:solidFill>
            <a:srgbClr val="8B0018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154680"/>
            <a:ext cx="3200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3136392"/>
            <a:ext cx="4526280" cy="44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 Stays Stable Despite Weather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55080" y="3657600"/>
            <a:ext cx="4983480" cy="141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 of ratings are 5 stars despite varying weather — shows resilience in customer experience.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2670" y="4511785"/>
            <a:ext cx="5440680" cy="1691251"/>
          </a:xfrm>
          <a:prstGeom prst="roundRect">
            <a:avLst>
              <a:gd name="adj" fmla="val 3137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" y="4718304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8B0018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4718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57300" y="47000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Performance Is Consistent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5820" y="5221224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across vehicle types are close (4.7–4.8), but drop as a driver's simultaneous deliveries increase.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6000" y="4511785"/>
            <a:ext cx="5440680" cy="1691251"/>
          </a:xfrm>
          <a:prstGeom prst="roundRect">
            <a:avLst>
              <a:gd name="adj" fmla="val 3137"/>
            </a:avLst>
          </a:prstGeom>
          <a:solidFill>
            <a:srgbClr val="F5EBEA"/>
          </a:solidFill>
          <a:ln w="9525">
            <a:solidFill>
              <a:srgbClr val="E3CCC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423660" y="4718304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8B0018"/>
          </a:solidFill>
          <a:ln/>
        </p:spPr>
      </p:sp>
      <p:sp>
        <p:nvSpPr>
          <p:cNvPr id="31" name="Text 29"/>
          <p:cNvSpPr/>
          <p:nvPr/>
        </p:nvSpPr>
        <p:spPr>
          <a:xfrm>
            <a:off x="6423660" y="4718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80860" y="47000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B0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Motorcycles Are the Fleet's Backbone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69380" y="5221224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make up over 55% of vehicles — investing in their maintenance and safety should be a priority.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5740" y="6563057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Food Delivery Analysis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15700" y="45811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A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B001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D9A441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Food Delivery Analysis — 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737</Words>
  <Application>Microsoft Office PowerPoint</Application>
  <PresentationFormat>شاشة عريضة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3" baseType="lpstr">
      <vt:lpstr>Arial</vt:lpstr>
      <vt:lpstr>Cambria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Hussein Sophy Elbhraweiy</cp:lastModifiedBy>
  <cp:revision>2</cp:revision>
  <dcterms:created xsi:type="dcterms:W3CDTF">2026-07-11T00:20:35Z</dcterms:created>
  <dcterms:modified xsi:type="dcterms:W3CDTF">2026-07-11T00:33:18Z</dcterms:modified>
</cp:coreProperties>
</file>